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75" r:id="rId3"/>
    <p:sldId id="258" r:id="rId4"/>
    <p:sldId id="260" r:id="rId5"/>
    <p:sldId id="276" r:id="rId6"/>
    <p:sldId id="259" r:id="rId7"/>
    <p:sldId id="261" r:id="rId8"/>
    <p:sldId id="262" r:id="rId9"/>
    <p:sldId id="263" r:id="rId10"/>
    <p:sldId id="264" r:id="rId11"/>
    <p:sldId id="265" r:id="rId12"/>
    <p:sldId id="277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78435"/>
            <a:ext cx="7744460" cy="1645920"/>
          </a:xfrm>
          <a:custGeom>
            <a:avLst/>
            <a:gdLst/>
            <a:ahLst/>
            <a:cxnLst/>
            <a:rect l="l" t="t" r="r" b="b"/>
            <a:pathLst>
              <a:path w="13905625" h="1803905">
                <a:moveTo>
                  <a:pt x="0" y="0"/>
                </a:moveTo>
                <a:lnTo>
                  <a:pt x="13905624" y="0"/>
                </a:lnTo>
                <a:lnTo>
                  <a:pt x="13905624" y="1803906"/>
                </a:lnTo>
                <a:lnTo>
                  <a:pt x="0" y="180390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r="-757"/>
            </a:stretch>
          </a:blipFill>
        </p:spPr>
      </p:sp>
      <p:sp>
        <p:nvSpPr>
          <p:cNvPr id="3" name="TextBox 5"/>
          <p:cNvSpPr txBox="1"/>
          <p:nvPr/>
        </p:nvSpPr>
        <p:spPr>
          <a:xfrm>
            <a:off x="804673" y="1721594"/>
            <a:ext cx="8031419" cy="5241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2400" b="1" dirty="0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Electronics and communication Engineering</a:t>
            </a:r>
            <a:endParaRPr lang="en-US" sz="2400" b="1" dirty="0">
              <a:solidFill>
                <a:srgbClr val="343434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6239" y="2697486"/>
            <a:ext cx="832104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IOT BASED SECURITY SYSTEM USING ESP32 CAM AND YOLOv8 FOR INTRUDER DETECTION.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IN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7910" y="3691511"/>
            <a:ext cx="4410395" cy="212006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>
                <a:latin typeface="Times New Roman" panose="02020603050405020304" charset="0"/>
                <a:cs typeface="Times New Roman" panose="02020603050405020304" charset="0"/>
              </a:rPr>
              <a:t>A REPORT SUBMITTED BY </a:t>
            </a:r>
            <a:endParaRPr lang="en-US" b="1" u="sng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1.NISHANTH M                  611623106071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2.MUKESH    M                   611623106063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3.PRASANNA P                   611623106079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4.PUGATHEESHWARAN   611623106082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3334" y="3674210"/>
            <a:ext cx="3998915" cy="23970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u="sng" dirty="0">
                <a:latin typeface="Times New Roman" panose="02020603050405020304" charset="0"/>
                <a:cs typeface="Times New Roman" panose="02020603050405020304" charset="0"/>
              </a:rPr>
              <a:t>SUPERVISOR</a:t>
            </a:r>
            <a:r>
              <a:rPr lang="en-US" b="1" u="sng" dirty="0"/>
              <a:t> </a:t>
            </a:r>
            <a:endParaRPr lang="en-US" b="1" u="sng" dirty="0"/>
          </a:p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charset="0"/>
                <a:cs typeface="Times New Roman" panose="02020603050405020304" charset="0"/>
              </a:rPr>
              <a:t>Mrs.V.ANNAPOORANI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 .,ME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ASSISTANT PROFESSOR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DEPARTMENT OF ELECTRONICS AND COMMUNICATION ENGINEERING</a:t>
            </a:r>
            <a:endParaRPr lang="en-IN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73743888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7743825" y="178435"/>
            <a:ext cx="1223645" cy="14611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2" y="137163"/>
            <a:ext cx="389080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sz="4400"/>
              <a:t>INTRODUCTION</a:t>
            </a:r>
            <a:endParaRPr sz="4400"/>
          </a:p>
        </p:txBody>
      </p:sp>
      <p:sp>
        <p:nvSpPr>
          <p:cNvPr id="5" name="TextBox 4"/>
          <p:cNvSpPr txBox="1"/>
          <p:nvPr/>
        </p:nvSpPr>
        <p:spPr>
          <a:xfrm>
            <a:off x="274320" y="1459233"/>
            <a:ext cx="5294376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Traditional CCTV systems rely heavily on human supervision - leading to fatigue and delayed response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YOLOv8 deep learning model enables real-time object detection with high accuracy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ESP32-CAM: Low-cost, compact microcontroller with integrated camera and </a:t>
            </a:r>
            <a:r>
              <a:rPr sz="2000" dirty="0" err="1">
                <a:latin typeface="Times New Roman" panose="02020603050405020304" charset="0"/>
                <a:cs typeface="Times New Roman" panose="02020603050405020304" charset="0"/>
              </a:rPr>
              <a:t>WiFi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This project integrates cutting-edge AI with affordable IoT hardware for autonomous surveillance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446" y="1695420"/>
            <a:ext cx="2832352" cy="1887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032" y="4045773"/>
            <a:ext cx="2575179" cy="223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3" y="137163"/>
            <a:ext cx="511550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sz="4400" dirty="0"/>
              <a:t>PROJECT OBJECTIVES</a:t>
            </a:r>
            <a:endParaRPr sz="4400" dirty="0"/>
          </a:p>
        </p:txBody>
      </p:sp>
      <p:sp>
        <p:nvSpPr>
          <p:cNvPr id="5" name="TextBox 4"/>
          <p:cNvSpPr txBox="1"/>
          <p:nvPr/>
        </p:nvSpPr>
        <p:spPr>
          <a:xfrm>
            <a:off x="140335" y="1577975"/>
            <a:ext cx="5432425" cy="4810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Design AI-powered intruder detection achieving &gt;92% accuracy with &lt;25ms latency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Implement distributed architecture: ESP32-CAM for capture + Server for YOLOv8 inference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Develop multi-channel alert system: Telegram,  LED, Voice calls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Reduce false positives through adaptive thresholding &amp; confidence scoring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Create modular, scalable architecture for future enhancements (facial recognition, multi-camera)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8101" y="1578001"/>
            <a:ext cx="2990088" cy="170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8736" y="3943131"/>
            <a:ext cx="2990088" cy="2354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193675" y="1307465"/>
          <a:ext cx="8734425" cy="487426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739140"/>
                <a:gridCol w="1496060"/>
                <a:gridCol w="2092960"/>
                <a:gridCol w="2183130"/>
                <a:gridCol w="2223135"/>
              </a:tblGrid>
              <a:tr h="508000">
                <a:tc>
                  <a:txBody>
                    <a:bodyPr/>
                    <a:p>
                      <a:pPr algn="ctr"/>
                      <a:r>
                        <a:rPr sz="1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S.NO</a:t>
                      </a:r>
                      <a:endParaRPr sz="1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AUTHOR &amp; YEAR</a:t>
                      </a:r>
                      <a:endParaRPr sz="1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METHODOLOGY</a:t>
                      </a:r>
                      <a:endParaRPr sz="1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ADVANTAGES</a:t>
                      </a:r>
                      <a:endParaRPr sz="1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LIMITATIONS</a:t>
                      </a:r>
                      <a:endParaRPr sz="1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873125"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Redmon et al. (2024)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YOLO real-time object detection using single-stage regression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High speed, real-time detection, global context understanding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Poor small object detection, localization issues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873125"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Ultralytics (2023)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YOLOv8 with anchor-free detection and multi-scale features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High accuracy, faster inference, flexible deployment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Requires large datasets and high computational power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873760"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Lin et al. (2023)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Deep learning with FPN and focal loss for pedestrian detection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Improved human detection, handles scale variations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Moderate speed, issues with occlusion and extreme conditions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873125"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Hassan et al. (2020)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IoT-based surveillance using sensors and cloud computing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Remote monitoring, scalable system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High latency, depends on internet, lacks AI intelligence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873125"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Shi et al. (2020)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Edge computing for local data processing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Low latency, faster response, reduced bandwidth usage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Limited processing power, complex architecture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4" name="Text Box 3"/>
          <p:cNvSpPr txBox="1"/>
          <p:nvPr/>
        </p:nvSpPr>
        <p:spPr>
          <a:xfrm>
            <a:off x="1600200" y="151130"/>
            <a:ext cx="635952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4400" b="1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LITERATURE REVIEW</a:t>
            </a:r>
            <a:endParaRPr lang="en-US" sz="4400" b="1" dirty="0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47625" y="919480"/>
            <a:ext cx="9067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2" y="137163"/>
            <a:ext cx="549701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sz="4400"/>
              <a:t>PROBLEM STATEMENT</a:t>
            </a:r>
            <a:endParaRPr sz="4400"/>
          </a:p>
        </p:txBody>
      </p:sp>
      <p:sp>
        <p:nvSpPr>
          <p:cNvPr id="5" name="TextBox 4"/>
          <p:cNvSpPr txBox="1"/>
          <p:nvPr/>
        </p:nvSpPr>
        <p:spPr>
          <a:xfrm>
            <a:off x="457200" y="1444753"/>
            <a:ext cx="5440680" cy="41948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Human Dependency: CCTV systems require continuous operator attention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High False Positives: Motion detection triggers excessive false alarms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Limited Coverage: Expensive to scale traditional infrastructure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Delayed Alerts: Incidents discovered only during post-incident investigation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High Maintenance: Complex backend infrastructure requires specialized expertise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220" y="1300734"/>
            <a:ext cx="3172968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220" y="3557016"/>
            <a:ext cx="3089195" cy="2000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2" y="137163"/>
            <a:ext cx="472501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sz="4400"/>
              <a:t>SYSTEM OVERVIEW</a:t>
            </a:r>
            <a:endParaRPr sz="4400"/>
          </a:p>
        </p:txBody>
      </p:sp>
      <p:sp>
        <p:nvSpPr>
          <p:cNvPr id="5" name="TextBox 4"/>
          <p:cNvSpPr txBox="1"/>
          <p:nvPr/>
        </p:nvSpPr>
        <p:spPr>
          <a:xfrm>
            <a:off x="228602" y="1705894"/>
            <a:ext cx="5495544" cy="41948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Hardware Layer: ESP32-CAM captures live video at configurable resolution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Communication: </a:t>
            </a:r>
            <a:r>
              <a:rPr sz="2000" dirty="0" err="1">
                <a:latin typeface="Times New Roman" panose="02020603050405020304" charset="0"/>
                <a:cs typeface="Times New Roman" panose="02020603050405020304" charset="0"/>
              </a:rPr>
              <a:t>WiFi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transmission (HTTP/MQTT) to processing unit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Processing: YOLOv8 deep learning model runs on Python-based server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Alert System: Multi-channel notifications via Telegram API, LED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,Alert call.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Architecture: Distributed design separates data capture from computation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098" name="Picture 2" descr="Business plan to target objective goal icon. planning development leadership and customer target group concept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9904" y="1069848"/>
            <a:ext cx="2734056" cy="2606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744" y="3831590"/>
            <a:ext cx="3134106" cy="2528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1" y="137163"/>
            <a:ext cx="654858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sz="4400"/>
              <a:t>HARDWARE COMPONENTS</a:t>
            </a:r>
            <a:endParaRPr sz="4400"/>
          </a:p>
        </p:txBody>
      </p:sp>
      <p:sp>
        <p:nvSpPr>
          <p:cNvPr id="5" name="TextBox 4"/>
          <p:cNvSpPr txBox="1"/>
          <p:nvPr/>
        </p:nvSpPr>
        <p:spPr>
          <a:xfrm>
            <a:off x="245110" y="1741805"/>
            <a:ext cx="5018405" cy="4502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ESP32-CAM: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Dual-core 240MHz processor, 2MP camera, 4MB flash, 3.3V operation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LED (Light Emitting Diode)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Visual alert indicator connected to GPIO pins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Alert Call: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 An alert call will initiated if unkown is detected 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Power Supply: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Regulated 5V DC for stable operation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Communication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IEEE 802.11 b/g/n </a:t>
            </a:r>
            <a:r>
              <a:rPr sz="2000" dirty="0" err="1">
                <a:latin typeface="Times New Roman" panose="02020603050405020304" charset="0"/>
                <a:cs typeface="Times New Roman" panose="02020603050405020304" charset="0"/>
              </a:rPr>
              <a:t>WiFi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for wireless connectivity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122" name="Picture 2" descr="Esp32 Cam Camera Module Pinout Datasheet Features And Specs Esp32esp32 Cam Dimension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323" y="1059796"/>
            <a:ext cx="3005373" cy="219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4" descr="Product image 1 of 1"/>
          <p:cNvSpPr>
            <a:spLocks noChangeAspect="1" noChangeArrowheads="1"/>
          </p:cNvSpPr>
          <p:nvPr/>
        </p:nvSpPr>
        <p:spPr bwMode="auto">
          <a:xfrm>
            <a:off x="6053328" y="3953256"/>
            <a:ext cx="1586484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792" y="3490751"/>
            <a:ext cx="2496312" cy="158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240" y="5192965"/>
            <a:ext cx="3648456" cy="158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1" y="137163"/>
            <a:ext cx="780213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sz="4400"/>
              <a:t>SOFTWARE TECHNOLOGY STACK</a:t>
            </a:r>
            <a:endParaRPr sz="4400"/>
          </a:p>
        </p:txBody>
      </p:sp>
      <p:sp>
        <p:nvSpPr>
          <p:cNvPr id="5" name="TextBox 4"/>
          <p:cNvSpPr txBox="1"/>
          <p:nvPr/>
        </p:nvSpPr>
        <p:spPr>
          <a:xfrm>
            <a:off x="353060" y="1447167"/>
            <a:ext cx="4654296" cy="5067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Arduino IDE: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Firmware development for ESP32-CAM initialization &amp; image capture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Python: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Main processing language with OpenCV, NumPy libraries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YOLOv8: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Real-time object detection model for person detection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Telegram API: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Cloud-based messaging for remote notifications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 err="1">
                <a:latin typeface="Times New Roman" panose="02020603050405020304" charset="0"/>
                <a:cs typeface="Times New Roman" panose="02020603050405020304" charset="0"/>
              </a:rPr>
              <a:t>PyTorch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Deep learning framework for model inference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0568" y="972898"/>
            <a:ext cx="2304289" cy="1563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816" y="2583937"/>
            <a:ext cx="2192274" cy="1490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5976" y="5486398"/>
            <a:ext cx="2112264" cy="137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2612" y="4107177"/>
            <a:ext cx="1581912" cy="1563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6520" y="1447165"/>
            <a:ext cx="1739900" cy="98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2" y="137163"/>
            <a:ext cx="570970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sz="4400"/>
              <a:t>SYSTEM ARCHITECTURE</a:t>
            </a:r>
            <a:endParaRPr sz="4400"/>
          </a:p>
        </p:txBody>
      </p:sp>
      <p:sp>
        <p:nvSpPr>
          <p:cNvPr id="5" name="TextBox 4"/>
          <p:cNvSpPr txBox="1"/>
          <p:nvPr/>
        </p:nvSpPr>
        <p:spPr>
          <a:xfrm>
            <a:off x="274320" y="1467235"/>
            <a:ext cx="4873752" cy="4502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Layer 1 (Input)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ESP32-CAM edge device captures video stream continuously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Layer 2 (Communication)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sz="2000" dirty="0" err="1">
                <a:latin typeface="Times New Roman" panose="02020603050405020304" charset="0"/>
                <a:cs typeface="Times New Roman" panose="02020603050405020304" charset="0"/>
              </a:rPr>
              <a:t>WiFi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transmission of compressed images via HTTP/MQTT protocol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Layer 3 (Processing)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YOLOv8 model performs inference on Python server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Layer 4 (Output):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Multi-channel alerts - Telegram, LED, voice calls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Feedback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Detection confidence scores logged to SQL database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4775" y="1478915"/>
            <a:ext cx="3812540" cy="5095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1" y="137163"/>
            <a:ext cx="511710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sz="4400"/>
              <a:t>WORKING PRINCIPLE</a:t>
            </a:r>
            <a:endParaRPr sz="4400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529830" cy="4451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12121"/>
                </a:solidFill>
              </a:defRPr>
            </a:pPr>
            <a:r>
              <a:rPr sz="2000" dirty="0"/>
              <a:t>1</a:t>
            </a:r>
            <a:r>
              <a:rPr lang="en-US" sz="2000" dirty="0"/>
              <a:t>      </a:t>
            </a:r>
            <a:r>
              <a:rPr sz="2000" b="1" dirty="0"/>
              <a:t>Initialization</a:t>
            </a:r>
            <a:r>
              <a:rPr sz="2000" dirty="0"/>
              <a:t>: ESP32-CAM powers ON, initializes camera, establishes </a:t>
            </a:r>
            <a:r>
              <a:rPr sz="2000" dirty="0" err="1"/>
              <a:t>WiFi</a:t>
            </a:r>
            <a:endParaRPr sz="2000" dirty="0"/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12121"/>
                </a:solidFill>
              </a:defRPr>
            </a:pPr>
            <a:r>
              <a:rPr sz="2000" dirty="0"/>
              <a:t>2️ </a:t>
            </a:r>
            <a:r>
              <a:rPr sz="2000" b="1" dirty="0"/>
              <a:t>Capture</a:t>
            </a:r>
            <a:r>
              <a:rPr sz="2000" dirty="0"/>
              <a:t>: Continuous image capture at regular intervals from monitored environment</a:t>
            </a:r>
            <a:endParaRPr sz="2000" dirty="0"/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12121"/>
                </a:solidFill>
              </a:defRPr>
            </a:pPr>
            <a:r>
              <a:rPr sz="2000" dirty="0"/>
              <a:t>3️ </a:t>
            </a:r>
            <a:r>
              <a:rPr sz="2000" b="1" dirty="0"/>
              <a:t>Transmission</a:t>
            </a:r>
            <a:r>
              <a:rPr sz="2000" dirty="0"/>
              <a:t>: Images sent to processing server via </a:t>
            </a:r>
            <a:r>
              <a:rPr sz="2000" dirty="0" err="1"/>
              <a:t>WiFi</a:t>
            </a:r>
            <a:r>
              <a:rPr sz="2000" dirty="0"/>
              <a:t> network</a:t>
            </a:r>
            <a:endParaRPr sz="2000" dirty="0"/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12121"/>
                </a:solidFill>
              </a:defRPr>
            </a:pPr>
            <a:r>
              <a:rPr sz="2000" dirty="0"/>
              <a:t>4️</a:t>
            </a:r>
            <a:r>
              <a:rPr sz="2000" b="1" dirty="0"/>
              <a:t> Preprocessing</a:t>
            </a:r>
            <a:r>
              <a:rPr sz="2000" dirty="0"/>
              <a:t>: Images resized, normalized using OpenCV</a:t>
            </a:r>
            <a:endParaRPr sz="2000" dirty="0"/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12121"/>
                </a:solidFill>
              </a:defRPr>
            </a:pPr>
            <a:r>
              <a:rPr sz="2000" dirty="0"/>
              <a:t>5️</a:t>
            </a:r>
            <a:r>
              <a:rPr sz="2000" b="1" dirty="0"/>
              <a:t> Detection</a:t>
            </a:r>
            <a:r>
              <a:rPr sz="2000" dirty="0"/>
              <a:t>: YOLOv8 analyzes frames for human presence with confidence thresholding</a:t>
            </a:r>
            <a:endParaRPr sz="2000" dirty="0"/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12121"/>
                </a:solidFill>
              </a:defRPr>
            </a:pPr>
            <a:r>
              <a:rPr sz="2000" dirty="0"/>
              <a:t>6️ </a:t>
            </a:r>
            <a:r>
              <a:rPr sz="2000" b="1" dirty="0"/>
              <a:t>Alert</a:t>
            </a:r>
            <a:r>
              <a:rPr sz="2000" dirty="0"/>
              <a:t>: If person detected (confidence &gt; threshold) → Telegram  + LED activation</a:t>
            </a:r>
            <a:r>
              <a:rPr lang="en-US" sz="2000" dirty="0"/>
              <a:t>+Alert Call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970" y="1079500"/>
            <a:ext cx="8353425" cy="4699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2" y="137163"/>
            <a:ext cx="595708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sz="4400"/>
              <a:t>PERFORMANCE RESULTS</a:t>
            </a:r>
            <a:endParaRPr sz="4400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19481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/>
              <a:t>Detection Accuracy:</a:t>
            </a:r>
            <a:r>
              <a:rPr sz="2000"/>
              <a:t> 94.2% - Correctly identifies human presence in most scenarios</a:t>
            </a:r>
            <a:endParaRPr sz="2000"/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/>
              <a:t> </a:t>
            </a:r>
            <a:r>
              <a:rPr sz="2000" b="1"/>
              <a:t>False Positive Rate</a:t>
            </a:r>
            <a:r>
              <a:rPr sz="2000"/>
              <a:t>: 3.8% - Minimal incorrect alerts due to adaptive thresholding</a:t>
            </a:r>
            <a:endParaRPr sz="2000"/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/>
              <a:t>Frame Processing: </a:t>
            </a:r>
            <a:r>
              <a:rPr sz="2000"/>
              <a:t>50-100ms per frame - Enables real-time performance (&gt;25 FPS)</a:t>
            </a:r>
            <a:endParaRPr sz="2000"/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/>
              <a:t> </a:t>
            </a:r>
            <a:r>
              <a:rPr sz="2000" b="1"/>
              <a:t>Telegram Alert Delivery</a:t>
            </a:r>
            <a:r>
              <a:rPr lang="en-US" sz="2000" b="1"/>
              <a:t>&amp; Alert Call </a:t>
            </a:r>
            <a:r>
              <a:rPr sz="2000" b="1"/>
              <a:t>:</a:t>
            </a:r>
            <a:r>
              <a:rPr sz="2000"/>
              <a:t> 99.3% success rate - Highly reliable remote notifications</a:t>
            </a:r>
            <a:endParaRPr sz="2000"/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/>
              <a:t> </a:t>
            </a:r>
            <a:r>
              <a:rPr sz="2000" b="1"/>
              <a:t>End-to-End Latency: </a:t>
            </a:r>
            <a:r>
              <a:rPr sz="2000"/>
              <a:t>1.5-2.5 seconds - Suitable for real-time security applications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3" y="137163"/>
            <a:ext cx="445666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sz="4400"/>
              <a:t>KEY ADVANTAGES</a:t>
            </a:r>
            <a:endParaRPr sz="4400"/>
          </a:p>
        </p:txBody>
      </p:sp>
      <p:sp>
        <p:nvSpPr>
          <p:cNvPr id="5" name="TextBox 4"/>
          <p:cNvSpPr txBox="1"/>
          <p:nvPr/>
        </p:nvSpPr>
        <p:spPr>
          <a:xfrm>
            <a:off x="460375" y="1371600"/>
            <a:ext cx="8265795" cy="50653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Real-time Detection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YOLOv8 processes images instantly with minimal delay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High Accuracy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Smart human detection vs. basic motion sensing = fewer false alarms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Autonomous Operation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No human monitoring required - 24/7 automated surveillance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Multi-Channel Alerts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Telegram, LED, voice calls ensure 100% notification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Cost-Effective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ESP32-CAM (~₹1000) vs. traditional CCTV systems (₹50,000+)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Scalable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Modular architecture supports multi-camera deployments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42823" y="6400803"/>
            <a:ext cx="24397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BCD4"/>
                </a:solidFill>
              </a:defRPr>
            </a:pPr>
            <a:r>
              <a:rPr lang="en-US" sz="1200" dirty="0"/>
              <a:t>\</a:t>
            </a:r>
            <a:endParaRPr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3"/>
            <a:ext cx="564449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sz="4400"/>
              <a:t>CURRENT LIMITATIONS</a:t>
            </a:r>
            <a:endParaRPr sz="4400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1"/>
            <a:ext cx="7680960" cy="5067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/>
              <a:t>️ WiFi Dependency</a:t>
            </a:r>
            <a:r>
              <a:rPr sz="2000"/>
              <a:t>: Network interruptions delay image transmission &amp; alerts</a:t>
            </a:r>
            <a:endParaRPr sz="2000"/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/>
              <a:t>️ Low-Light Performance</a:t>
            </a:r>
            <a:r>
              <a:rPr sz="2000"/>
              <a:t>: Reduced accuracy in night-time/dark environments (no IR)</a:t>
            </a:r>
            <a:endParaRPr sz="2000"/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/>
              <a:t>️ No Face Recognition:</a:t>
            </a:r>
            <a:r>
              <a:rPr sz="2000"/>
              <a:t> Cannot differentiate between authorized &amp; unauthorized persons</a:t>
            </a:r>
            <a:endParaRPr sz="2000"/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/>
              <a:t>️ Processing Dependency</a:t>
            </a:r>
            <a:r>
              <a:rPr sz="2000"/>
              <a:t>: Requires external server - not fully edge-deployed</a:t>
            </a:r>
            <a:endParaRPr sz="2000"/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/>
              <a:t>️ Environmental Sensitivity</a:t>
            </a:r>
            <a:r>
              <a:rPr sz="2000"/>
              <a:t>: Complex backgrounds/shadows cause occasional false positives</a:t>
            </a:r>
            <a:endParaRPr sz="2000"/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/>
              <a:t>️ Power Requirements</a:t>
            </a:r>
            <a:r>
              <a:rPr sz="2000"/>
              <a:t>: Continuous power needed for both ESP32 and processing unit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3"/>
            <a:ext cx="615905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sz="4400"/>
              <a:t>FUTURE ENHANCEMENTS</a:t>
            </a:r>
            <a:endParaRPr sz="4400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75932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Facial Recognition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Differentiate authorized vs. unauthorized individuals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Behavior Analysis: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Detect suspicious activities, not just presence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Multi-Camera Coordination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Monitor larger areas with centralized processing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 Mobile Application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User-friendly dashboard for remote monitoring &amp; control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Cloud Integration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AWS/Azure for data storage, analytics, long-term logging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 Edge Acceleration: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Run optimized models on embedded devices to reduce latency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2" y="137163"/>
            <a:ext cx="662392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sz="4400"/>
              <a:t>IMPLEMENTATION DETAILS</a:t>
            </a:r>
            <a:endParaRPr sz="4400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890510" cy="50361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 Arduino IDE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Firmware for ESP32-CAM with </a:t>
            </a:r>
            <a:r>
              <a:rPr sz="2000" dirty="0" err="1">
                <a:latin typeface="Times New Roman" panose="02020603050405020304" charset="0"/>
                <a:cs typeface="Times New Roman" panose="02020603050405020304" charset="0"/>
              </a:rPr>
              <a:t>WiFi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config &amp; image capture logic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 Python Server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Flask/</a:t>
            </a:r>
            <a:r>
              <a:rPr sz="2000" dirty="0" err="1">
                <a:latin typeface="Times New Roman" panose="02020603050405020304" charset="0"/>
                <a:cs typeface="Times New Roman" panose="02020603050405020304" charset="0"/>
              </a:rPr>
              <a:t>FastAPI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backend receiving images from edge device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 YOLOv8 Setup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Pre-trained model on COCO dataset, optimized for 'person' class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 Telegram Bot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API token integration for real-time alert notifications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 Alert call: 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Twilio Python SDK 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 GPIO Control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 LED triggered via microcontroller pins on detection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 Testing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Validated across multiple environments (indoor, outdoor, varied lighting)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3"/>
            <a:ext cx="9422765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sz="4000"/>
              <a:t>COMPARISON WITH TRADITIONAL SYSTEMS</a:t>
            </a:r>
            <a:endParaRPr sz="4000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108315" cy="4632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12121"/>
                </a:solidFill>
              </a:defRPr>
            </a:pPr>
            <a:endParaRPr sz="2000" dirty="0"/>
          </a:p>
        </p:txBody>
      </p:sp>
      <p:graphicFrame>
        <p:nvGraphicFramePr>
          <p:cNvPr id="6" name="Table 5"/>
          <p:cNvGraphicFramePr/>
          <p:nvPr/>
        </p:nvGraphicFramePr>
        <p:xfrm>
          <a:off x="478790" y="1138555"/>
          <a:ext cx="8374380" cy="542544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093595"/>
                <a:gridCol w="2093595"/>
                <a:gridCol w="2093595"/>
                <a:gridCol w="2093595"/>
              </a:tblGrid>
              <a:tr h="7315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1"/>
                        <a:t>Feature</a:t>
                      </a:r>
                      <a:endParaRPr sz="1600" b="1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1"/>
                        <a:t>Traditional CCTV</a:t>
                      </a:r>
                      <a:endParaRPr sz="1600" b="1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1"/>
                        <a:t>Motion Detection (PIR/Basic)</a:t>
                      </a:r>
                      <a:endParaRPr sz="1600" b="1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1"/>
                        <a:t>Our AI-Powered System</a:t>
                      </a:r>
                      <a:endParaRPr sz="1600" b="1"/>
                    </a:p>
                  </a:txBody>
                  <a:tcPr marL="0" marR="0" marT="122237" marB="122237" anchor="ctr" anchorCtr="0"/>
                </a:tc>
              </a:tr>
              <a:tr h="6705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Technology Base</a:t>
                      </a:r>
                      <a:endParaRPr sz="1400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Manual monitoring </a:t>
                      </a:r>
                      <a:endParaRPr sz="1400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Basic infrared or pixel-change sensors</a:t>
                      </a:r>
                      <a:endParaRPr sz="1400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Edge-based Deep Learning &amp; CV</a:t>
                      </a:r>
                      <a:endParaRPr sz="1400"/>
                    </a:p>
                  </a:txBody>
                  <a:tcPr marL="0" marR="0" marT="122237" marB="122237" anchor="ctr" anchorCtr="0"/>
                </a:tc>
              </a:tr>
              <a:tr h="6705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Detection Logic</a:t>
                      </a:r>
                      <a:endParaRPr sz="1400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Human observation (active)</a:t>
                      </a:r>
                      <a:endParaRPr sz="1400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Simple physical movement</a:t>
                      </a:r>
                      <a:endParaRPr sz="1400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Semantic Human Presence Analysis</a:t>
                      </a:r>
                      <a:endParaRPr sz="1400"/>
                    </a:p>
                  </a:txBody>
                  <a:tcPr marL="0" marR="0" marT="122237" marB="122237" anchor="ctr" anchorCtr="0"/>
                </a:tc>
              </a:tr>
              <a:tr h="6705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Infrastructure</a:t>
                      </a:r>
                      <a:endParaRPr sz="1400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High (Cabling, dedicated monitors, servers)</a:t>
                      </a:r>
                      <a:endParaRPr sz="1400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Moderate (Sensor networks)</a:t>
                      </a:r>
                      <a:endParaRPr sz="1400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Cost-Effective (Cloud/Edge integration)</a:t>
                      </a:r>
                      <a:endParaRPr sz="1400"/>
                    </a:p>
                  </a:txBody>
                  <a:tcPr marL="0" marR="0" marT="122237" marB="122237" anchor="ctr" anchorCtr="0"/>
                </a:tc>
              </a:tr>
              <a:tr h="6705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Alert Accuracy</a:t>
                      </a:r>
                      <a:endParaRPr sz="1400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Variable (Human error/fatigue)</a:t>
                      </a:r>
                      <a:endParaRPr sz="1400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Low (Triggered by wind, light, pets)</a:t>
                      </a:r>
                      <a:endParaRPr sz="1400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High (94.2% Precision)</a:t>
                      </a:r>
                      <a:endParaRPr sz="1400"/>
                    </a:p>
                  </a:txBody>
                  <a:tcPr marL="0" marR="0" marT="122237" marB="122237" anchor="ctr" anchorCtr="0"/>
                </a:tc>
              </a:tr>
              <a:tr h="6705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False Positive Rate</a:t>
                      </a:r>
                      <a:endParaRPr sz="1400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High (Due to manual oversight)</a:t>
                      </a:r>
                      <a:endParaRPr sz="1400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Very High (40–50%)</a:t>
                      </a:r>
                      <a:endParaRPr sz="1400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Ultra-Low (3.8%)</a:t>
                      </a:r>
                      <a:endParaRPr sz="1400"/>
                    </a:p>
                  </a:txBody>
                  <a:tcPr marL="0" marR="0" marT="122237" marB="122237" anchor="ctr" anchorCtr="0"/>
                </a:tc>
              </a:tr>
              <a:tr h="6705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Response Time</a:t>
                      </a:r>
                      <a:endParaRPr sz="1400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Delayed (Post-incident review)</a:t>
                      </a:r>
                      <a:endParaRPr sz="1400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Immediate but often unreliable</a:t>
                      </a:r>
                      <a:endParaRPr sz="1400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Real-time Autonomous Alerts</a:t>
                      </a:r>
                      <a:endParaRPr sz="1400"/>
                    </a:p>
                  </a:txBody>
                  <a:tcPr marL="0" marR="0" marT="122237" marB="122237" anchor="ctr" anchorCtr="0"/>
                </a:tc>
              </a:tr>
              <a:tr h="6705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Communication</a:t>
                      </a:r>
                      <a:endParaRPr sz="1400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Single-channel (Station monitor)</a:t>
                      </a:r>
                      <a:endParaRPr sz="1400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Basic Siren/Local Alarm</a:t>
                      </a:r>
                      <a:endParaRPr sz="1400"/>
                    </a:p>
                  </a:txBody>
                  <a:tcPr marL="0" marR="91757" marT="122237" marB="12223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/>
                        <a:t>Multi-channel (App, SMS, API)</a:t>
                      </a:r>
                      <a:endParaRPr sz="1400"/>
                    </a:p>
                  </a:txBody>
                  <a:tcPr marL="0" marR="0" marT="122237" marB="12223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3"/>
            <a:ext cx="688361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sz="4400"/>
              <a:t>REAL-WORLD APPLICATIONS</a:t>
            </a:r>
            <a:endParaRPr sz="4400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374255" cy="44881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Residential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Homes, apartments, gated communities for perimeter security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Commercial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Retail stores, offices, warehouses, shopping malls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Educational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Schools, colleges, universities for campus security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Critical Infrastructure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Banks, ATMs, power substations, telecom facilities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 Healthcare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Hospitals, clinics for restricted area access control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Ø"/>
              <a:defRPr sz="2000">
                <a:solidFill>
                  <a:srgbClr val="212121"/>
                </a:solidFill>
              </a:defRPr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Transportation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 Railway stations, bus terminals, parking facilities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3" y="137163"/>
            <a:ext cx="331212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sz="4400"/>
              <a:t>CONCLUSION</a:t>
            </a:r>
            <a:endParaRPr sz="4400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1"/>
            <a:ext cx="7680960" cy="4451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/>
              <a:t> Successfully demonstrates feasibility of AI-based surveillance in resource-constrained environments</a:t>
            </a:r>
            <a:endParaRPr sz="2000" dirty="0"/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/>
              <a:t> YOLOv8 + ESP32-CAM + IoT alerting = powerful yet affordable security solution</a:t>
            </a:r>
            <a:endParaRPr sz="2000" dirty="0"/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/>
              <a:t> Achieves 94.2% accuracy with 1.8-sec latency - suitable for real-time applications</a:t>
            </a:r>
            <a:endParaRPr lang="en-US" sz="2000" dirty="0"/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/>
              <a:t> Multi-channel alerts ensure reliability - Telegram, LED, voice calls</a:t>
            </a:r>
            <a:endParaRPr sz="2000" dirty="0"/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/>
              <a:t>₹10,000 total cost makes it accessible to small-medium enterprises &amp; educational institutions</a:t>
            </a:r>
            <a:endParaRPr sz="2000" dirty="0"/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12121"/>
                </a:solidFill>
              </a:defRPr>
            </a:pPr>
            <a:r>
              <a:rPr sz="2000" dirty="0"/>
              <a:t>Modular design enables seamless scaling and future enhancements</a:t>
            </a:r>
            <a:endParaRPr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C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3"/>
            <a:ext cx="731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rPr sz="7200"/>
              <a:t>THANK YOU</a:t>
            </a:r>
            <a:endParaRPr sz="7200"/>
          </a:p>
        </p:txBody>
      </p:sp>
      <p:sp>
        <p:nvSpPr>
          <p:cNvPr id="3" name="TextBox 2"/>
          <p:cNvSpPr txBox="1"/>
          <p:nvPr/>
        </p:nvSpPr>
        <p:spPr>
          <a:xfrm>
            <a:off x="1803457" y="3840483"/>
            <a:ext cx="553709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rPr sz="3200"/>
              <a:t>For your attention and feedback</a:t>
            </a:r>
            <a:endParaRPr sz="32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87*383"/>
  <p:tag name="TABLE_ENDDRAG_RECT" val="15*102*687*38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8570</Words>
  <Application>WPS Presentation</Application>
  <PresentationFormat>On-screen Show (4:3)</PresentationFormat>
  <Paragraphs>278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SimSun</vt:lpstr>
      <vt:lpstr>Wingdings</vt:lpstr>
      <vt:lpstr>Arial</vt:lpstr>
      <vt:lpstr>Times New Roman Bold</vt:lpstr>
      <vt:lpstr>Times New Roman</vt:lpstr>
      <vt:lpstr>Calibri</vt:lpstr>
      <vt:lpstr>Microsoft YaHei</vt:lpstr>
      <vt:lpstr>Arial Unicode MS</vt:lpstr>
      <vt:lpstr>Wingdings</vt:lpstr>
      <vt:lpstr>Google Sans Text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NISHANTH M</dc:creator>
  <dc:description>generated using python-pptx</dc:description>
  <cp:lastModifiedBy>Nishanth Nishan</cp:lastModifiedBy>
  <cp:revision>11</cp:revision>
  <dcterms:created xsi:type="dcterms:W3CDTF">2013-01-27T09:14:00Z</dcterms:created>
  <dcterms:modified xsi:type="dcterms:W3CDTF">2026-05-04T05:15:09Z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BE33B73C4E7246E0B0F5F1D27F368156_13</vt:lpwstr>
  </property>
</Properties>
</file>